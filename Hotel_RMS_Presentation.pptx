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photo-1566073771259-6a8506099945" ContentType="image/photo-1566073771259-6a8506099945"/>
  <Default Extension="photo-1414235077428-338989a2e8c0" ContentType="image/photo-1414235077428-338989a2e8c0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Room Status Distribution (100 rooms)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Room Status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2C39A"/>
              </a:solidFill>
              <a:effectLst/>
            </c:spPr>
          </c:dPt>
          <c:dPt>
            <c:idx val="1"/>
            <c:bubble3D val="0"/>
            <c:spPr>
              <a:solidFill>
                <a:srgbClr val="1B4F72"/>
              </a:solidFill>
              <a:effectLst/>
            </c:spPr>
          </c:dPt>
          <c:dPt>
            <c:idx val="2"/>
            <c:bubble3D val="0"/>
            <c:spPr>
              <a:solidFill>
                <a:srgbClr val="C9A84C"/>
              </a:solidFill>
              <a:effectLst/>
            </c:spPr>
          </c:dPt>
          <c:dPt>
            <c:idx val="3"/>
            <c:bubble3D val="0"/>
            <c:spPr>
              <a:solidFill>
                <a:srgbClr val="5DADE2"/>
              </a:solidFill>
              <a:effectLst/>
            </c:spPr>
          </c:dPt>
          <c:dPt>
            <c:idx val="4"/>
            <c:bubble3D val="0"/>
            <c:spPr>
              <a:solidFill>
                <a:srgbClr val="E74C3C"/>
              </a:solidFill>
              <a:effectLst/>
            </c:spPr>
          </c:dPt>
          <c:dPt>
            <c:idx val="5"/>
            <c:bubble3D val="0"/>
            <c:spPr>
              <a:solidFill>
                <a:srgbClr val="7F8C8D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Available</c:v>
                </c:pt>
                <c:pt idx="1">
                  <c:v>Occupied</c:v>
                </c:pt>
                <c:pt idx="2">
                  <c:v>Cleaning</c:v>
                </c:pt>
                <c:pt idx="3">
                  <c:v>Reserved</c:v>
                </c:pt>
                <c:pt idx="4">
                  <c:v>Maintenance</c:v>
                </c:pt>
                <c:pt idx="5">
                  <c:v>Out of Order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46</c:v>
                </c:pt>
                <c:pt idx="1">
                  <c:v>20</c:v>
                </c:pt>
                <c:pt idx="2">
                  <c:v>10</c:v>
                </c:pt>
                <c:pt idx="3">
                  <c:v>12</c:v>
                </c:pt>
                <c:pt idx="4">
                  <c:v>7</c:v>
                </c:pt>
                <c:pt idx="5">
                  <c:v>5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0D1B2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com/photo-1564501049412-61c2a3083791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com/photo-1631049307264-da0ec9d70304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com/photo-1455587734955-081b22074882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hoto-1566073771259-6a8506099945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com/photo-1571003123894-1f0594d2b5d9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com/photo-1582719478250-c89cae4dc85b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com/photo-1571896349842-33c89424de2d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hoto-1414235077428-338989a2e8c0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com/photo-1566073771259-6a8506099945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14-1.png"/><Relationship Id="rId3" Type="http://schemas.openxmlformats.org/officeDocument/2006/relationships/image" Target="../media/image-14-2.png"/><Relationship Id="rId4" Type="http://schemas.openxmlformats.org/officeDocument/2006/relationships/image" Target="../media/image-14-3.png"/><Relationship Id="rId5" Type="http://schemas.openxmlformats.org/officeDocument/2006/relationships/image" Target="../media/image-14-4.png"/><Relationship Id="rId6" Type="http://schemas.openxmlformats.org/officeDocument/2006/relationships/image" Target="../media/image-14-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com/photo-1582719478250-c89cae4dc85b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D1B2A">
              <a:alpha val="65000"/>
            </a:srgbClr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01168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Hotel Room Management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457200" y="292608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9D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Report  •  CSC1204_2026 Database Management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5943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C9D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Bulwadda Titus Trevor  |  April 13,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D1B2A">
              <a:alpha val="80000"/>
            </a:srgbClr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1B4F72">
              <a:alpha val="85000"/>
            </a:srgbClr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C9D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0" y="457200"/>
            <a:ext cx="3291840" cy="777240"/>
          </a:xfrm>
          <a:prstGeom prst="roundRect">
            <a:avLst>
              <a:gd name="adj" fmla="val 9412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0" y="502920"/>
            <a:ext cx="3108960" cy="6858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Business Case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0" y="1417320"/>
            <a:ext cx="3291840" cy="777240"/>
          </a:xfrm>
          <a:prstGeom prst="roundRect">
            <a:avLst>
              <a:gd name="adj" fmla="val 9412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120640" y="1463040"/>
            <a:ext cx="3108960" cy="6858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System Overview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0" y="2377440"/>
            <a:ext cx="3291840" cy="777240"/>
          </a:xfrm>
          <a:prstGeom prst="roundRect">
            <a:avLst>
              <a:gd name="adj" fmla="val 9412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120640" y="2423160"/>
            <a:ext cx="3108960" cy="6858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Entities &amp; Attributes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0" y="3337560"/>
            <a:ext cx="3291840" cy="777240"/>
          </a:xfrm>
          <a:prstGeom prst="roundRect">
            <a:avLst>
              <a:gd name="adj" fmla="val 9412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120640" y="3383280"/>
            <a:ext cx="3108960" cy="6858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Relationships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0" y="4297680"/>
            <a:ext cx="3291840" cy="777240"/>
          </a:xfrm>
          <a:prstGeom prst="roundRect">
            <a:avLst>
              <a:gd name="adj" fmla="val 9412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120640" y="4343400"/>
            <a:ext cx="3108960" cy="6858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ER Diagram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0" y="5257800"/>
            <a:ext cx="3291840" cy="777240"/>
          </a:xfrm>
          <a:prstGeom prst="roundRect">
            <a:avLst>
              <a:gd name="adj" fmla="val 9412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0" y="5303520"/>
            <a:ext cx="3108960" cy="6858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User Interface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686800" y="457200"/>
            <a:ext cx="3291840" cy="777240"/>
          </a:xfrm>
          <a:prstGeom prst="roundRect">
            <a:avLst>
              <a:gd name="adj" fmla="val 9412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778240" y="502920"/>
            <a:ext cx="3108960" cy="6858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Physical Design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686800" y="1417320"/>
            <a:ext cx="3291840" cy="777240"/>
          </a:xfrm>
          <a:prstGeom prst="roundRect">
            <a:avLst>
              <a:gd name="adj" fmla="val 9412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778240" y="1463040"/>
            <a:ext cx="3108960" cy="6858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— Queries &amp; Reports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686800" y="2377440"/>
            <a:ext cx="3291840" cy="777240"/>
          </a:xfrm>
          <a:prstGeom prst="roundRect">
            <a:avLst>
              <a:gd name="adj" fmla="val 9412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778240" y="2423160"/>
            <a:ext cx="3108960" cy="6858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— Staff Management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686800" y="3337560"/>
            <a:ext cx="3291840" cy="777240"/>
          </a:xfrm>
          <a:prstGeom prst="roundRect">
            <a:avLst>
              <a:gd name="adj" fmla="val 9412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778240" y="3383280"/>
            <a:ext cx="3108960" cy="6858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— Room Types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686800" y="4297680"/>
            <a:ext cx="3291840" cy="777240"/>
          </a:xfrm>
          <a:prstGeom prst="roundRect">
            <a:avLst>
              <a:gd name="adj" fmla="val 9412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778240" y="4343400"/>
            <a:ext cx="3108960" cy="6858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— Implementation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686800" y="5257800"/>
            <a:ext cx="3291840" cy="777240"/>
          </a:xfrm>
          <a:prstGeom prst="roundRect">
            <a:avLst>
              <a:gd name="adj" fmla="val 9412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778240" y="5303520"/>
            <a:ext cx="3108960" cy="6858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— Conclusion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D1B2A">
              <a:alpha val="75000"/>
            </a:srgbClr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B4F72">
              <a:alpha val="90000"/>
            </a:srgbClr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"/>
            <a:ext cx="685800" cy="685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Case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457200" y="1188720"/>
            <a:ext cx="5486400" cy="155448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508760"/>
            <a:ext cx="594360" cy="5943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80160" y="132588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Double Bookings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280160" y="173736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room availability tracking ensures no two guests are assigned the same room.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57200" y="2971800"/>
            <a:ext cx="5486400" cy="155448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291840"/>
            <a:ext cx="594360" cy="5943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80160" y="310896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Revenue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1280160" y="352044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pricing and full inventory visibility boost occupancy rates and revenue.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457200" y="4754880"/>
            <a:ext cx="5486400" cy="155448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5074920"/>
            <a:ext cx="594360" cy="5943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80160" y="489204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Check-in/out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1280160" y="530352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system cuts front-desk processing time significantly.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6400800" y="1188720"/>
            <a:ext cx="5486400" cy="155448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7960" y="1508760"/>
            <a:ext cx="594360" cy="59436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223760" y="132588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Housekeeping</a:t>
            </a:r>
            <a:endParaRPr lang="en-US" sz="1500" dirty="0"/>
          </a:p>
        </p:txBody>
      </p:sp>
      <p:sp>
        <p:nvSpPr>
          <p:cNvPr id="22" name="Text 15"/>
          <p:cNvSpPr/>
          <p:nvPr/>
        </p:nvSpPr>
        <p:spPr>
          <a:xfrm>
            <a:off x="7223760" y="173736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and task tracking for cleaning crews reduces idle time.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6400800" y="2971800"/>
            <a:ext cx="5486400" cy="155448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7960" y="3291840"/>
            <a:ext cx="594360" cy="59436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7223760" y="310896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Logging</a:t>
            </a:r>
            <a:endParaRPr lang="en-US" sz="1500" dirty="0"/>
          </a:p>
        </p:txBody>
      </p:sp>
      <p:sp>
        <p:nvSpPr>
          <p:cNvPr id="26" name="Text 18"/>
          <p:cNvSpPr/>
          <p:nvPr/>
        </p:nvSpPr>
        <p:spPr>
          <a:xfrm>
            <a:off x="7223760" y="352044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repairs tracked with priority, cost, and resolution status.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images.unsplash.com/photo-1566073771259-6a8506099945?w=1920&amp;q=80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50292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1B4F72">
              <a:alpha val="60000"/>
            </a:srgbClr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74320" y="2286000"/>
            <a:ext cx="4389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Overview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274320" y="411480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unified relational database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tying together all hotel operations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029200" y="0"/>
            <a:ext cx="164592" cy="68580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94960" y="2743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4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Modules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5394960" y="1097280"/>
            <a:ext cx="1920240" cy="23774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AF4F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897880" y="1371600"/>
            <a:ext cx="914400" cy="914400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508760"/>
            <a:ext cx="640080" cy="6400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86400" y="242316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Management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7589520" y="1097280"/>
            <a:ext cx="1920240" cy="23774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AF4F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8092440" y="1371600"/>
            <a:ext cx="914400" cy="914400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508760"/>
            <a:ext cx="640080" cy="6400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680960" y="242316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Management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9784080" y="1097280"/>
            <a:ext cx="1920240" cy="23774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AF4F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10287000" y="1371600"/>
            <a:ext cx="914400" cy="914400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24160" y="1508760"/>
            <a:ext cx="640080" cy="6400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875520" y="242316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System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5394960" y="3840480"/>
            <a:ext cx="1920240" cy="23774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AF4F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5897880" y="4114800"/>
            <a:ext cx="914400" cy="914400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251960"/>
            <a:ext cx="640080" cy="64008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486400" y="516636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Housekeeping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7589520" y="3840480"/>
            <a:ext cx="1920240" cy="23774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AF4F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8092440" y="4114800"/>
            <a:ext cx="914400" cy="914400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0" y="4251960"/>
            <a:ext cx="640080" cy="64008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680960" y="516636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1300" dirty="0"/>
          </a:p>
        </p:txBody>
      </p:sp>
      <p:sp>
        <p:nvSpPr>
          <p:cNvPr id="28" name="Shape 20"/>
          <p:cNvSpPr/>
          <p:nvPr/>
        </p:nvSpPr>
        <p:spPr>
          <a:xfrm>
            <a:off x="9784080" y="3840480"/>
            <a:ext cx="1920240" cy="23774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AF4F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1"/>
          <p:cNvSpPr/>
          <p:nvPr/>
        </p:nvSpPr>
        <p:spPr>
          <a:xfrm>
            <a:off x="10287000" y="4114800"/>
            <a:ext cx="914400" cy="914400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24160" y="4251960"/>
            <a:ext cx="640080" cy="64008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9875520" y="516636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Roles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82880"/>
            <a:ext cx="685800" cy="685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18288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Entities &amp; Attributes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365760" y="1097280"/>
            <a:ext cx="3657600" cy="1554480"/>
          </a:xfrm>
          <a:prstGeom prst="rect">
            <a:avLst/>
          </a:prstGeom>
          <a:solidFill>
            <a:srgbClr val="1B4F72">
              <a:alpha val="80000"/>
            </a:srgbClr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65760" y="1097280"/>
            <a:ext cx="3657600" cy="36576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1115568"/>
            <a:ext cx="3474720" cy="347472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1508760"/>
            <a:ext cx="347472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9D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guest_id, first_name, last_name, email, phone, national_id, nationality, DOB, gender, address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297680" y="1097280"/>
            <a:ext cx="3657600" cy="1554480"/>
          </a:xfrm>
          <a:prstGeom prst="rect">
            <a:avLst/>
          </a:prstGeom>
          <a:solidFill>
            <a:srgbClr val="1B4F72">
              <a:alpha val="80000"/>
            </a:srgbClr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297680" y="1097280"/>
            <a:ext cx="3657600" cy="36576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389120" y="1115568"/>
            <a:ext cx="3474720" cy="347472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389120" y="1508760"/>
            <a:ext cx="347472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9D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ROOM_ID, ROOM_NUMBER, FLOOR, ROOM_TYPE_ID, STATUS_ID, CAPACITY, DESCRIPTION, IS_ACTIVE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229600" y="1097280"/>
            <a:ext cx="3657600" cy="1554480"/>
          </a:xfrm>
          <a:prstGeom prst="rect">
            <a:avLst/>
          </a:prstGeom>
          <a:solidFill>
            <a:srgbClr val="1B4F72">
              <a:alpha val="80000"/>
            </a:srgbClr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229600" y="1097280"/>
            <a:ext cx="3657600" cy="36576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321040" y="1115568"/>
            <a:ext cx="3474720" cy="347472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321040" y="1508760"/>
            <a:ext cx="347472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9D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booking_id, guest_id, room_id, check_in, check_out, booking_date, status, total_amount, payment_status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65760" y="2926080"/>
            <a:ext cx="3657600" cy="1554480"/>
          </a:xfrm>
          <a:prstGeom prst="rect">
            <a:avLst/>
          </a:prstGeom>
          <a:solidFill>
            <a:srgbClr val="1B4F72">
              <a:alpha val="80000"/>
            </a:srgbClr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65760" y="2926080"/>
            <a:ext cx="3657600" cy="36576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7200" y="2944368"/>
            <a:ext cx="3474720" cy="347472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Room_Type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57200" y="3337560"/>
            <a:ext cx="347472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9D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ROOM_TYPE_ID, TYPE_NAME, BED_COUNT, AMENITIES, HAS_WIFI, HAS_AC, HAS_TV, DESCRIPTION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297680" y="2926080"/>
            <a:ext cx="3657600" cy="1554480"/>
          </a:xfrm>
          <a:prstGeom prst="rect">
            <a:avLst/>
          </a:prstGeom>
          <a:solidFill>
            <a:srgbClr val="1B4F72">
              <a:alpha val="80000"/>
            </a:srgbClr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297680" y="2926080"/>
            <a:ext cx="3657600" cy="36576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389120" y="2944368"/>
            <a:ext cx="3474720" cy="347472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389120" y="3337560"/>
            <a:ext cx="347472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9D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staff_id, first_name, last_name, role, phone, email, shift, salary, hire_date, status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8229600" y="2926080"/>
            <a:ext cx="3657600" cy="1554480"/>
          </a:xfrm>
          <a:prstGeom prst="rect">
            <a:avLst/>
          </a:prstGeom>
          <a:solidFill>
            <a:srgbClr val="1B4F72">
              <a:alpha val="80000"/>
            </a:srgbClr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8229600" y="2926080"/>
            <a:ext cx="3657600" cy="36576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321040" y="2944368"/>
            <a:ext cx="3474720" cy="347472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Housekeeping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8321040" y="3337560"/>
            <a:ext cx="347472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9D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room_id, staff_id, scheduled_at, status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365760" y="4754880"/>
            <a:ext cx="3657600" cy="1554480"/>
          </a:xfrm>
          <a:prstGeom prst="rect">
            <a:avLst/>
          </a:prstGeom>
          <a:solidFill>
            <a:srgbClr val="1B4F72">
              <a:alpha val="80000"/>
            </a:srgbClr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365760" y="4754880"/>
            <a:ext cx="3657600" cy="36576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57200" y="4773168"/>
            <a:ext cx="3474720" cy="347472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457200" y="5166360"/>
            <a:ext cx="347472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9D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maintenance_id, room_id, staff_id, issue_desc, reported_date, resolved_date, status, priority, cost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297680" y="4754880"/>
            <a:ext cx="3657600" cy="1554480"/>
          </a:xfrm>
          <a:prstGeom prst="rect">
            <a:avLst/>
          </a:prstGeom>
          <a:solidFill>
            <a:srgbClr val="1B4F72">
              <a:alpha val="80000"/>
            </a:srgbClr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4297680" y="4754880"/>
            <a:ext cx="3657600" cy="36576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389120" y="4773168"/>
            <a:ext cx="3474720" cy="347472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Room_Status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4389120" y="5166360"/>
            <a:ext cx="347472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9D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STATUS_ID, STATUS_NAME, DESCRIPTION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8229600" y="4754880"/>
            <a:ext cx="3657600" cy="1554480"/>
          </a:xfrm>
          <a:prstGeom prst="rect">
            <a:avLst/>
          </a:prstGeom>
          <a:solidFill>
            <a:srgbClr val="1B4F72">
              <a:alpha val="80000"/>
            </a:srgbClr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8229600" y="4754880"/>
            <a:ext cx="3657600" cy="36576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8321040" y="4773168"/>
            <a:ext cx="3474720" cy="347472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Staff_Role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8321040" y="5166360"/>
            <a:ext cx="347472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9D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role_id, ROLE_NAME, PERMISSIONS, DESCRIPTION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D1B2A">
              <a:alpha val="70000"/>
            </a:srgbClr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B4F72">
              <a:alpha val="90000"/>
            </a:srgbClr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"/>
            <a:ext cx="685800" cy="685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Entity Relationships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118872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relationships are binary ONE-TO-MANY (1:N)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1234440"/>
            <a:ext cx="3566160" cy="146304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1508760"/>
            <a:ext cx="1188720" cy="502920"/>
          </a:xfrm>
          <a:prstGeom prst="roundRect">
            <a:avLst>
              <a:gd name="adj" fmla="val 10909"/>
            </a:avLst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15087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Room_Type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1783080" y="1755648"/>
            <a:ext cx="822960" cy="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828800" y="15087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2697480" y="1508760"/>
            <a:ext cx="1188720" cy="502920"/>
          </a:xfrm>
          <a:prstGeom prst="roundRect">
            <a:avLst>
              <a:gd name="adj" fmla="val 10909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697480" y="15087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389120" y="1234440"/>
            <a:ext cx="3566160" cy="146304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480560" y="1508760"/>
            <a:ext cx="1188720" cy="502920"/>
          </a:xfrm>
          <a:prstGeom prst="roundRect">
            <a:avLst>
              <a:gd name="adj" fmla="val 10909"/>
            </a:avLst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480560" y="15087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Room_Status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715000" y="1755648"/>
            <a:ext cx="822960" cy="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760720" y="15087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629400" y="1508760"/>
            <a:ext cx="1188720" cy="502920"/>
          </a:xfrm>
          <a:prstGeom prst="roundRect">
            <a:avLst>
              <a:gd name="adj" fmla="val 10909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629400" y="15087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8321040" y="1234440"/>
            <a:ext cx="3566160" cy="146304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8412480" y="1508760"/>
            <a:ext cx="1188720" cy="502920"/>
          </a:xfrm>
          <a:prstGeom prst="roundRect">
            <a:avLst>
              <a:gd name="adj" fmla="val 10909"/>
            </a:avLst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412480" y="15087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Staff_Role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9646920" y="1755648"/>
            <a:ext cx="822960" cy="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692640" y="15087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10561320" y="1508760"/>
            <a:ext cx="1188720" cy="502920"/>
          </a:xfrm>
          <a:prstGeom prst="roundRect">
            <a:avLst>
              <a:gd name="adj" fmla="val 10909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0561320" y="15087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2971800"/>
            <a:ext cx="3566160" cy="146304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548640" y="3246120"/>
            <a:ext cx="1188720" cy="502920"/>
          </a:xfrm>
          <a:prstGeom prst="roundRect">
            <a:avLst>
              <a:gd name="adj" fmla="val 10909"/>
            </a:avLst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48640" y="32461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Guests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783080" y="3493008"/>
            <a:ext cx="822960" cy="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828800" y="32461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2697480" y="3246120"/>
            <a:ext cx="1188720" cy="502920"/>
          </a:xfrm>
          <a:prstGeom prst="roundRect">
            <a:avLst>
              <a:gd name="adj" fmla="val 10909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2697480" y="32461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4389120" y="2971800"/>
            <a:ext cx="3566160" cy="146304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4480560" y="3246120"/>
            <a:ext cx="1188720" cy="502920"/>
          </a:xfrm>
          <a:prstGeom prst="roundRect">
            <a:avLst>
              <a:gd name="adj" fmla="val 10909"/>
            </a:avLst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480560" y="32461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5715000" y="3493008"/>
            <a:ext cx="822960" cy="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760720" y="32461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6629400" y="3246120"/>
            <a:ext cx="1188720" cy="502920"/>
          </a:xfrm>
          <a:prstGeom prst="roundRect">
            <a:avLst>
              <a:gd name="adj" fmla="val 10909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629400" y="32461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8321040" y="2971800"/>
            <a:ext cx="3566160" cy="146304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4" name="Shape 41"/>
          <p:cNvSpPr/>
          <p:nvPr/>
        </p:nvSpPr>
        <p:spPr>
          <a:xfrm>
            <a:off x="8412480" y="3246120"/>
            <a:ext cx="1188720" cy="502920"/>
          </a:xfrm>
          <a:prstGeom prst="roundRect">
            <a:avLst>
              <a:gd name="adj" fmla="val 10909"/>
            </a:avLst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8412480" y="32461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9646920" y="3493008"/>
            <a:ext cx="822960" cy="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9692640" y="32461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1200" dirty="0"/>
          </a:p>
        </p:txBody>
      </p:sp>
      <p:sp>
        <p:nvSpPr>
          <p:cNvPr id="48" name="Shape 45"/>
          <p:cNvSpPr/>
          <p:nvPr/>
        </p:nvSpPr>
        <p:spPr>
          <a:xfrm>
            <a:off x="10561320" y="3246120"/>
            <a:ext cx="1188720" cy="502920"/>
          </a:xfrm>
          <a:prstGeom prst="roundRect">
            <a:avLst>
              <a:gd name="adj" fmla="val 10909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10561320" y="32461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Housekeeping</a:t>
            </a:r>
            <a:endParaRPr lang="en-US" sz="1100" dirty="0"/>
          </a:p>
        </p:txBody>
      </p:sp>
      <p:sp>
        <p:nvSpPr>
          <p:cNvPr id="50" name="Shape 47"/>
          <p:cNvSpPr/>
          <p:nvPr/>
        </p:nvSpPr>
        <p:spPr>
          <a:xfrm>
            <a:off x="457200" y="4709160"/>
            <a:ext cx="3566160" cy="146304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1" name="Shape 48"/>
          <p:cNvSpPr/>
          <p:nvPr/>
        </p:nvSpPr>
        <p:spPr>
          <a:xfrm>
            <a:off x="548640" y="4983480"/>
            <a:ext cx="1188720" cy="502920"/>
          </a:xfrm>
          <a:prstGeom prst="roundRect">
            <a:avLst>
              <a:gd name="adj" fmla="val 10909"/>
            </a:avLst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548640" y="49834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783080" y="5230368"/>
            <a:ext cx="822960" cy="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1828800" y="498348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1200" dirty="0"/>
          </a:p>
        </p:txBody>
      </p:sp>
      <p:sp>
        <p:nvSpPr>
          <p:cNvPr id="55" name="Shape 52"/>
          <p:cNvSpPr/>
          <p:nvPr/>
        </p:nvSpPr>
        <p:spPr>
          <a:xfrm>
            <a:off x="2697480" y="4983480"/>
            <a:ext cx="1188720" cy="502920"/>
          </a:xfrm>
          <a:prstGeom prst="roundRect">
            <a:avLst>
              <a:gd name="adj" fmla="val 10909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2697480" y="49834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Housekeeping</a:t>
            </a:r>
            <a:endParaRPr lang="en-US" sz="1100" dirty="0"/>
          </a:p>
        </p:txBody>
      </p:sp>
      <p:sp>
        <p:nvSpPr>
          <p:cNvPr id="57" name="Shape 54"/>
          <p:cNvSpPr/>
          <p:nvPr/>
        </p:nvSpPr>
        <p:spPr>
          <a:xfrm>
            <a:off x="4389120" y="4709160"/>
            <a:ext cx="3566160" cy="146304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8" name="Shape 55"/>
          <p:cNvSpPr/>
          <p:nvPr/>
        </p:nvSpPr>
        <p:spPr>
          <a:xfrm>
            <a:off x="4480560" y="4983480"/>
            <a:ext cx="1188720" cy="502920"/>
          </a:xfrm>
          <a:prstGeom prst="roundRect">
            <a:avLst>
              <a:gd name="adj" fmla="val 10909"/>
            </a:avLst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4480560" y="49834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</a:t>
            </a:r>
            <a:endParaRPr lang="en-US" sz="1100" dirty="0"/>
          </a:p>
        </p:txBody>
      </p:sp>
      <p:sp>
        <p:nvSpPr>
          <p:cNvPr id="60" name="Shape 57"/>
          <p:cNvSpPr/>
          <p:nvPr/>
        </p:nvSpPr>
        <p:spPr>
          <a:xfrm>
            <a:off x="5715000" y="5230368"/>
            <a:ext cx="822960" cy="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5760720" y="498348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1200" dirty="0"/>
          </a:p>
        </p:txBody>
      </p:sp>
      <p:sp>
        <p:nvSpPr>
          <p:cNvPr id="62" name="Shape 59"/>
          <p:cNvSpPr/>
          <p:nvPr/>
        </p:nvSpPr>
        <p:spPr>
          <a:xfrm>
            <a:off x="6629400" y="4983480"/>
            <a:ext cx="1188720" cy="502920"/>
          </a:xfrm>
          <a:prstGeom prst="roundRect">
            <a:avLst>
              <a:gd name="adj" fmla="val 10909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6629400" y="49834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1100" dirty="0"/>
          </a:p>
        </p:txBody>
      </p:sp>
      <p:sp>
        <p:nvSpPr>
          <p:cNvPr id="64" name="Shape 61"/>
          <p:cNvSpPr/>
          <p:nvPr/>
        </p:nvSpPr>
        <p:spPr>
          <a:xfrm>
            <a:off x="8321040" y="4709160"/>
            <a:ext cx="3566160" cy="146304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5" name="Shape 62"/>
          <p:cNvSpPr/>
          <p:nvPr/>
        </p:nvSpPr>
        <p:spPr>
          <a:xfrm>
            <a:off x="8412480" y="4983480"/>
            <a:ext cx="1188720" cy="502920"/>
          </a:xfrm>
          <a:prstGeom prst="roundRect">
            <a:avLst>
              <a:gd name="adj" fmla="val 10909"/>
            </a:avLst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8412480" y="49834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</a:t>
            </a:r>
            <a:endParaRPr lang="en-US" sz="1100" dirty="0"/>
          </a:p>
        </p:txBody>
      </p:sp>
      <p:sp>
        <p:nvSpPr>
          <p:cNvPr id="67" name="Shape 64"/>
          <p:cNvSpPr/>
          <p:nvPr/>
        </p:nvSpPr>
        <p:spPr>
          <a:xfrm>
            <a:off x="9646920" y="5230368"/>
            <a:ext cx="822960" cy="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9692640" y="498348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1200" dirty="0"/>
          </a:p>
        </p:txBody>
      </p:sp>
      <p:sp>
        <p:nvSpPr>
          <p:cNvPr id="69" name="Shape 66"/>
          <p:cNvSpPr/>
          <p:nvPr/>
        </p:nvSpPr>
        <p:spPr>
          <a:xfrm>
            <a:off x="10561320" y="4983480"/>
            <a:ext cx="1188720" cy="502920"/>
          </a:xfrm>
          <a:prstGeom prst="roundRect">
            <a:avLst>
              <a:gd name="adj" fmla="val 10909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10561320" y="49834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37160"/>
            <a:ext cx="685800" cy="685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 Diagram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4937760" y="2697480"/>
            <a:ext cx="1645920" cy="640080"/>
          </a:xfrm>
          <a:prstGeom prst="roundRect">
            <a:avLst>
              <a:gd name="adj" fmla="val 11429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937760" y="26974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2011680" y="1097280"/>
            <a:ext cx="3657600" cy="192024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8" name="Shape 5"/>
          <p:cNvSpPr/>
          <p:nvPr/>
        </p:nvSpPr>
        <p:spPr>
          <a:xfrm>
            <a:off x="1188720" y="822960"/>
            <a:ext cx="1737360" cy="548640"/>
          </a:xfrm>
          <a:prstGeom prst="roundRect">
            <a:avLst>
              <a:gd name="adj" fmla="val 10000"/>
            </a:avLst>
          </a:prstGeom>
          <a:solidFill>
            <a:srgbClr val="1B4F72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1188720" y="8229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Room_Type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669280" y="1097280"/>
            <a:ext cx="4114800" cy="192024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11" name="Shape 8"/>
          <p:cNvSpPr/>
          <p:nvPr/>
        </p:nvSpPr>
        <p:spPr>
          <a:xfrm>
            <a:off x="8961120" y="822960"/>
            <a:ext cx="1737360" cy="548640"/>
          </a:xfrm>
          <a:prstGeom prst="roundRect">
            <a:avLst>
              <a:gd name="adj" fmla="val 10000"/>
            </a:avLst>
          </a:prstGeom>
          <a:solidFill>
            <a:srgbClr val="1B4F72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961120" y="8229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Room_Status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1371600" y="3017520"/>
            <a:ext cx="4297680" cy="27432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14" name="Shape 11"/>
          <p:cNvSpPr/>
          <p:nvPr/>
        </p:nvSpPr>
        <p:spPr>
          <a:xfrm>
            <a:off x="548640" y="3017520"/>
            <a:ext cx="1737360" cy="548640"/>
          </a:xfrm>
          <a:prstGeom prst="roundRect">
            <a:avLst>
              <a:gd name="adj" fmla="val 10000"/>
            </a:avLst>
          </a:prstGeom>
          <a:solidFill>
            <a:srgbClr val="1B4F72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48640" y="30175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394960" y="3017520"/>
            <a:ext cx="274320" cy="256032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17" name="Shape 14"/>
          <p:cNvSpPr/>
          <p:nvPr/>
        </p:nvSpPr>
        <p:spPr>
          <a:xfrm>
            <a:off x="4572000" y="5303520"/>
            <a:ext cx="1737360" cy="548640"/>
          </a:xfrm>
          <a:prstGeom prst="roundRect">
            <a:avLst>
              <a:gd name="adj" fmla="val 10000"/>
            </a:avLst>
          </a:prstGeom>
          <a:solidFill>
            <a:srgbClr val="1A5276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4572000" y="53035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669280" y="3017520"/>
            <a:ext cx="3383280" cy="182880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20" name="Shape 17"/>
          <p:cNvSpPr/>
          <p:nvPr/>
        </p:nvSpPr>
        <p:spPr>
          <a:xfrm>
            <a:off x="8229600" y="4572000"/>
            <a:ext cx="1737360" cy="548640"/>
          </a:xfrm>
          <a:prstGeom prst="roundRect">
            <a:avLst>
              <a:gd name="adj" fmla="val 10000"/>
            </a:avLst>
          </a:prstGeom>
          <a:solidFill>
            <a:srgbClr val="1A5276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8229600" y="45720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Housekeeping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669280" y="3017520"/>
            <a:ext cx="4114800" cy="27432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23" name="Shape 20"/>
          <p:cNvSpPr/>
          <p:nvPr/>
        </p:nvSpPr>
        <p:spPr>
          <a:xfrm>
            <a:off x="8961120" y="3017520"/>
            <a:ext cx="1737360" cy="548640"/>
          </a:xfrm>
          <a:prstGeom prst="roundRect">
            <a:avLst>
              <a:gd name="adj" fmla="val 10000"/>
            </a:avLst>
          </a:prstGeom>
          <a:solidFill>
            <a:srgbClr val="1A5276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8961120" y="30175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5394960" y="1280160"/>
            <a:ext cx="274320" cy="173736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26" name="Shape 23"/>
          <p:cNvSpPr/>
          <p:nvPr/>
        </p:nvSpPr>
        <p:spPr>
          <a:xfrm>
            <a:off x="4572000" y="1005840"/>
            <a:ext cx="1737360" cy="548640"/>
          </a:xfrm>
          <a:prstGeom prst="roundRect">
            <a:avLst>
              <a:gd name="adj" fmla="val 10000"/>
            </a:avLst>
          </a:prstGeom>
          <a:solidFill>
            <a:srgbClr val="1B4F72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4572000" y="10058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2651760" y="3017520"/>
            <a:ext cx="3017520" cy="237744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29" name="Shape 26"/>
          <p:cNvSpPr/>
          <p:nvPr/>
        </p:nvSpPr>
        <p:spPr>
          <a:xfrm>
            <a:off x="1828800" y="5120640"/>
            <a:ext cx="1737360" cy="548640"/>
          </a:xfrm>
          <a:prstGeom prst="roundRect">
            <a:avLst>
              <a:gd name="adj" fmla="val 10000"/>
            </a:avLst>
          </a:prstGeom>
          <a:solidFill>
            <a:srgbClr val="117A65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1828800" y="51206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is the central entity connecting all operational tables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D1B2A">
              <a:alpha val="75000"/>
            </a:srgbClr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"/>
            <a:ext cx="685800" cy="685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13716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Interface Dashboards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365760" y="1097280"/>
            <a:ext cx="2651760" cy="530352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65760" y="1097280"/>
            <a:ext cx="2651760" cy="109728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188720"/>
            <a:ext cx="640080" cy="6400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57200" y="2011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Desk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502920" y="2514600"/>
            <a:ext cx="2377440" cy="731520"/>
          </a:xfrm>
          <a:prstGeom prst="rect">
            <a:avLst/>
          </a:prstGeom>
          <a:solidFill>
            <a:srgbClr val="EAF4FB">
              <a:alpha val="80000"/>
            </a:srgbClr>
          </a:solidFill>
          <a:ln w="12700">
            <a:solidFill>
              <a:srgbClr val="EAF4F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548640" y="2514600"/>
            <a:ext cx="2286000" cy="7315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status grid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02920" y="3429000"/>
            <a:ext cx="2377440" cy="731520"/>
          </a:xfrm>
          <a:prstGeom prst="rect">
            <a:avLst/>
          </a:prstGeom>
          <a:solidFill>
            <a:srgbClr val="EAF4FB">
              <a:alpha val="80000"/>
            </a:srgbClr>
          </a:solidFill>
          <a:ln w="12700">
            <a:solidFill>
              <a:srgbClr val="EAF4F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548640" y="3429000"/>
            <a:ext cx="2286000" cy="7315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check-ins/check-outs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02920" y="4343400"/>
            <a:ext cx="2377440" cy="731520"/>
          </a:xfrm>
          <a:prstGeom prst="rect">
            <a:avLst/>
          </a:prstGeom>
          <a:solidFill>
            <a:srgbClr val="EAF4FB">
              <a:alpha val="80000"/>
            </a:srgbClr>
          </a:solidFill>
          <a:ln w="12700">
            <a:solidFill>
              <a:srgbClr val="EAF4F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548640" y="4343400"/>
            <a:ext cx="2286000" cy="7315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reservation form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02920" y="5257800"/>
            <a:ext cx="2377440" cy="731520"/>
          </a:xfrm>
          <a:prstGeom prst="rect">
            <a:avLst/>
          </a:prstGeom>
          <a:solidFill>
            <a:srgbClr val="EAF4FB">
              <a:alpha val="80000"/>
            </a:srgbClr>
          </a:solidFill>
          <a:ln w="12700">
            <a:solidFill>
              <a:srgbClr val="EAF4F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548640" y="5257800"/>
            <a:ext cx="2286000" cy="7315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search &amp; billing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3291840" y="1097280"/>
            <a:ext cx="2651760" cy="530352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3291840" y="1097280"/>
            <a:ext cx="2651760" cy="109728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1188720"/>
            <a:ext cx="640080" cy="6400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3383280" y="2011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Housekeeping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3429000" y="2514600"/>
            <a:ext cx="2377440" cy="731520"/>
          </a:xfrm>
          <a:prstGeom prst="rect">
            <a:avLst/>
          </a:prstGeom>
          <a:solidFill>
            <a:srgbClr val="EAF4FB">
              <a:alpha val="80000"/>
            </a:srgbClr>
          </a:solidFill>
          <a:ln w="12700">
            <a:solidFill>
              <a:srgbClr val="EAF4F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3474720" y="2514600"/>
            <a:ext cx="2286000" cy="7315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list &amp; assignments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3429000" y="3429000"/>
            <a:ext cx="2377440" cy="731520"/>
          </a:xfrm>
          <a:prstGeom prst="rect">
            <a:avLst/>
          </a:prstGeom>
          <a:solidFill>
            <a:srgbClr val="EAF4FB">
              <a:alpha val="80000"/>
            </a:srgbClr>
          </a:solidFill>
          <a:ln w="12700">
            <a:solidFill>
              <a:srgbClr val="EAF4F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Text 20"/>
          <p:cNvSpPr/>
          <p:nvPr/>
        </p:nvSpPr>
        <p:spPr>
          <a:xfrm>
            <a:off x="3474720" y="3429000"/>
            <a:ext cx="2286000" cy="7315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status updates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3429000" y="4343400"/>
            <a:ext cx="2377440" cy="731520"/>
          </a:xfrm>
          <a:prstGeom prst="rect">
            <a:avLst/>
          </a:prstGeom>
          <a:solidFill>
            <a:srgbClr val="EAF4FB">
              <a:alpha val="80000"/>
            </a:srgbClr>
          </a:solidFill>
          <a:ln w="12700">
            <a:solidFill>
              <a:srgbClr val="EAF4F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Text 22"/>
          <p:cNvSpPr/>
          <p:nvPr/>
        </p:nvSpPr>
        <p:spPr>
          <a:xfrm>
            <a:off x="3474720" y="4343400"/>
            <a:ext cx="2286000" cy="7315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notes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3429000" y="5257800"/>
            <a:ext cx="2377440" cy="731520"/>
          </a:xfrm>
          <a:prstGeom prst="rect">
            <a:avLst/>
          </a:prstGeom>
          <a:solidFill>
            <a:srgbClr val="EAF4FB">
              <a:alpha val="80000"/>
            </a:srgbClr>
          </a:solidFill>
          <a:ln w="12700">
            <a:solidFill>
              <a:srgbClr val="EAF4F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Text 24"/>
          <p:cNvSpPr/>
          <p:nvPr/>
        </p:nvSpPr>
        <p:spPr>
          <a:xfrm>
            <a:off x="3474720" y="5257800"/>
            <a:ext cx="2286000" cy="7315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flag</a:t>
            </a:r>
            <a:endParaRPr lang="en-US" sz="1100" dirty="0"/>
          </a:p>
        </p:txBody>
      </p:sp>
      <p:sp>
        <p:nvSpPr>
          <p:cNvPr id="30" name="Shape 25"/>
          <p:cNvSpPr/>
          <p:nvPr/>
        </p:nvSpPr>
        <p:spPr>
          <a:xfrm>
            <a:off x="6217920" y="1097280"/>
            <a:ext cx="2651760" cy="530352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6217920" y="1097280"/>
            <a:ext cx="2651760" cy="1097280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0" y="1188720"/>
            <a:ext cx="640080" cy="64008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6309360" y="2011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1400" dirty="0"/>
          </a:p>
        </p:txBody>
      </p:sp>
      <p:sp>
        <p:nvSpPr>
          <p:cNvPr id="34" name="Shape 28"/>
          <p:cNvSpPr/>
          <p:nvPr/>
        </p:nvSpPr>
        <p:spPr>
          <a:xfrm>
            <a:off x="6355080" y="2514600"/>
            <a:ext cx="2377440" cy="731520"/>
          </a:xfrm>
          <a:prstGeom prst="rect">
            <a:avLst/>
          </a:prstGeom>
          <a:solidFill>
            <a:srgbClr val="EAF4FB">
              <a:alpha val="80000"/>
            </a:srgbClr>
          </a:solidFill>
          <a:ln w="12700">
            <a:solidFill>
              <a:srgbClr val="EAF4F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Text 29"/>
          <p:cNvSpPr/>
          <p:nvPr/>
        </p:nvSpPr>
        <p:spPr>
          <a:xfrm>
            <a:off x="6400800" y="2514600"/>
            <a:ext cx="2286000" cy="7315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requests</a:t>
            </a:r>
            <a:endParaRPr lang="en-US" sz="1100" dirty="0"/>
          </a:p>
        </p:txBody>
      </p:sp>
      <p:sp>
        <p:nvSpPr>
          <p:cNvPr id="36" name="Shape 30"/>
          <p:cNvSpPr/>
          <p:nvPr/>
        </p:nvSpPr>
        <p:spPr>
          <a:xfrm>
            <a:off x="6355080" y="3429000"/>
            <a:ext cx="2377440" cy="731520"/>
          </a:xfrm>
          <a:prstGeom prst="rect">
            <a:avLst/>
          </a:prstGeom>
          <a:solidFill>
            <a:srgbClr val="EAF4FB">
              <a:alpha val="80000"/>
            </a:srgbClr>
          </a:solidFill>
          <a:ln w="12700">
            <a:solidFill>
              <a:srgbClr val="EAF4F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7" name="Text 31"/>
          <p:cNvSpPr/>
          <p:nvPr/>
        </p:nvSpPr>
        <p:spPr>
          <a:xfrm>
            <a:off x="6400800" y="3429000"/>
            <a:ext cx="2286000" cy="7315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jobs</a:t>
            </a:r>
            <a:endParaRPr lang="en-US" sz="1100" dirty="0"/>
          </a:p>
        </p:txBody>
      </p:sp>
      <p:sp>
        <p:nvSpPr>
          <p:cNvPr id="38" name="Shape 32"/>
          <p:cNvSpPr/>
          <p:nvPr/>
        </p:nvSpPr>
        <p:spPr>
          <a:xfrm>
            <a:off x="6355080" y="4343400"/>
            <a:ext cx="2377440" cy="731520"/>
          </a:xfrm>
          <a:prstGeom prst="rect">
            <a:avLst/>
          </a:prstGeom>
          <a:solidFill>
            <a:srgbClr val="EAF4FB">
              <a:alpha val="80000"/>
            </a:srgbClr>
          </a:solidFill>
          <a:ln w="12700">
            <a:solidFill>
              <a:srgbClr val="EAF4F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9" name="Text 33"/>
          <p:cNvSpPr/>
          <p:nvPr/>
        </p:nvSpPr>
        <p:spPr>
          <a:xfrm>
            <a:off x="6400800" y="4343400"/>
            <a:ext cx="2286000" cy="7315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updates</a:t>
            </a:r>
            <a:endParaRPr lang="en-US" sz="1100" dirty="0"/>
          </a:p>
        </p:txBody>
      </p:sp>
      <p:sp>
        <p:nvSpPr>
          <p:cNvPr id="40" name="Shape 34"/>
          <p:cNvSpPr/>
          <p:nvPr/>
        </p:nvSpPr>
        <p:spPr>
          <a:xfrm>
            <a:off x="6355080" y="5257800"/>
            <a:ext cx="2377440" cy="731520"/>
          </a:xfrm>
          <a:prstGeom prst="rect">
            <a:avLst/>
          </a:prstGeom>
          <a:solidFill>
            <a:srgbClr val="EAF4FB">
              <a:alpha val="80000"/>
            </a:srgbClr>
          </a:solidFill>
          <a:ln w="12700">
            <a:solidFill>
              <a:srgbClr val="EAF4F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1" name="Text 35"/>
          <p:cNvSpPr/>
          <p:nvPr/>
        </p:nvSpPr>
        <p:spPr>
          <a:xfrm>
            <a:off x="6400800" y="5257800"/>
            <a:ext cx="2286000" cy="7315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offline flag</a:t>
            </a:r>
            <a:endParaRPr lang="en-US" sz="1100" dirty="0"/>
          </a:p>
        </p:txBody>
      </p:sp>
      <p:sp>
        <p:nvSpPr>
          <p:cNvPr id="42" name="Shape 36"/>
          <p:cNvSpPr/>
          <p:nvPr/>
        </p:nvSpPr>
        <p:spPr>
          <a:xfrm>
            <a:off x="9144000" y="1097280"/>
            <a:ext cx="2651760" cy="530352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3" name="Shape 37"/>
          <p:cNvSpPr/>
          <p:nvPr/>
        </p:nvSpPr>
        <p:spPr>
          <a:xfrm>
            <a:off x="9144000" y="1097280"/>
            <a:ext cx="2651760" cy="1097280"/>
          </a:xfrm>
          <a:prstGeom prst="rect">
            <a:avLst/>
          </a:prstGeom>
          <a:solidFill>
            <a:srgbClr val="6E2F1A"/>
          </a:solidFill>
          <a:ln w="12700">
            <a:solidFill>
              <a:srgbClr val="6E2F1A"/>
            </a:solidFill>
            <a:prstDash val="solid"/>
          </a:ln>
        </p:spPr>
      </p:sp>
      <p:pic>
        <p:nvPicPr>
          <p:cNvPr id="44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9840" y="1188720"/>
            <a:ext cx="640080" cy="640080"/>
          </a:xfrm>
          <a:prstGeom prst="rect">
            <a:avLst/>
          </a:prstGeom>
        </p:spPr>
      </p:pic>
      <p:sp>
        <p:nvSpPr>
          <p:cNvPr id="45" name="Text 38"/>
          <p:cNvSpPr/>
          <p:nvPr/>
        </p:nvSpPr>
        <p:spPr>
          <a:xfrm>
            <a:off x="9235440" y="2011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1400" dirty="0"/>
          </a:p>
        </p:txBody>
      </p:sp>
      <p:sp>
        <p:nvSpPr>
          <p:cNvPr id="46" name="Shape 39"/>
          <p:cNvSpPr/>
          <p:nvPr/>
        </p:nvSpPr>
        <p:spPr>
          <a:xfrm>
            <a:off x="9281160" y="2514600"/>
            <a:ext cx="2377440" cy="731520"/>
          </a:xfrm>
          <a:prstGeom prst="rect">
            <a:avLst/>
          </a:prstGeom>
          <a:solidFill>
            <a:srgbClr val="EAF4FB">
              <a:alpha val="80000"/>
            </a:srgbClr>
          </a:solidFill>
          <a:ln w="12700">
            <a:solidFill>
              <a:srgbClr val="EAF4F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7" name="Text 40"/>
          <p:cNvSpPr/>
          <p:nvPr/>
        </p:nvSpPr>
        <p:spPr>
          <a:xfrm>
            <a:off x="9326880" y="2514600"/>
            <a:ext cx="2286000" cy="7315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 overview</a:t>
            </a:r>
            <a:endParaRPr lang="en-US" sz="1100" dirty="0"/>
          </a:p>
        </p:txBody>
      </p:sp>
      <p:sp>
        <p:nvSpPr>
          <p:cNvPr id="48" name="Shape 41"/>
          <p:cNvSpPr/>
          <p:nvPr/>
        </p:nvSpPr>
        <p:spPr>
          <a:xfrm>
            <a:off x="9281160" y="3429000"/>
            <a:ext cx="2377440" cy="731520"/>
          </a:xfrm>
          <a:prstGeom prst="rect">
            <a:avLst/>
          </a:prstGeom>
          <a:solidFill>
            <a:srgbClr val="EAF4FB">
              <a:alpha val="80000"/>
            </a:srgbClr>
          </a:solidFill>
          <a:ln w="12700">
            <a:solidFill>
              <a:srgbClr val="EAF4F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9" name="Text 42"/>
          <p:cNvSpPr/>
          <p:nvPr/>
        </p:nvSpPr>
        <p:spPr>
          <a:xfrm>
            <a:off x="9326880" y="3429000"/>
            <a:ext cx="2286000" cy="7315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summary</a:t>
            </a:r>
            <a:endParaRPr lang="en-US" sz="1100" dirty="0"/>
          </a:p>
        </p:txBody>
      </p:sp>
      <p:sp>
        <p:nvSpPr>
          <p:cNvPr id="50" name="Shape 43"/>
          <p:cNvSpPr/>
          <p:nvPr/>
        </p:nvSpPr>
        <p:spPr>
          <a:xfrm>
            <a:off x="9281160" y="4343400"/>
            <a:ext cx="2377440" cy="731520"/>
          </a:xfrm>
          <a:prstGeom prst="rect">
            <a:avLst/>
          </a:prstGeom>
          <a:solidFill>
            <a:srgbClr val="EAF4FB">
              <a:alpha val="80000"/>
            </a:srgbClr>
          </a:solidFill>
          <a:ln w="12700">
            <a:solidFill>
              <a:srgbClr val="EAF4F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1" name="Text 44"/>
          <p:cNvSpPr/>
          <p:nvPr/>
        </p:nvSpPr>
        <p:spPr>
          <a:xfrm>
            <a:off x="9326880" y="4343400"/>
            <a:ext cx="2286000" cy="7315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pricing controls</a:t>
            </a:r>
            <a:endParaRPr lang="en-US" sz="1100" dirty="0"/>
          </a:p>
        </p:txBody>
      </p:sp>
      <p:sp>
        <p:nvSpPr>
          <p:cNvPr id="52" name="Shape 45"/>
          <p:cNvSpPr/>
          <p:nvPr/>
        </p:nvSpPr>
        <p:spPr>
          <a:xfrm>
            <a:off x="9281160" y="5257800"/>
            <a:ext cx="2377440" cy="731520"/>
          </a:xfrm>
          <a:prstGeom prst="rect">
            <a:avLst/>
          </a:prstGeom>
          <a:solidFill>
            <a:srgbClr val="EAF4FB">
              <a:alpha val="80000"/>
            </a:srgbClr>
          </a:solidFill>
          <a:ln w="12700">
            <a:solidFill>
              <a:srgbClr val="EAF4F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3" name="Text 46"/>
          <p:cNvSpPr/>
          <p:nvPr/>
        </p:nvSpPr>
        <p:spPr>
          <a:xfrm>
            <a:off x="9326880" y="5257800"/>
            <a:ext cx="2286000" cy="7315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activity &amp; reports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37160"/>
            <a:ext cx="685800" cy="685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Physical Design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1188720" y="7315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Implementation with Constraints &amp; Foreign Keys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1188720"/>
            <a:ext cx="5486400" cy="5212080"/>
          </a:xfrm>
          <a:prstGeom prst="rect">
            <a:avLst/>
          </a:prstGeom>
          <a:solidFill>
            <a:srgbClr val="0D2035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48640" y="12801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Status Overview Query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1691640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rs.STATUS_NAME, COUNT(r.ROOM_ID) AS total_rooms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room r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room_status rs ON r.STATUS_ID = rs.STATUS_ID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rs.STATUS_NAME;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2834640"/>
            <a:ext cx="5303520" cy="457200"/>
          </a:xfrm>
          <a:prstGeom prst="rect">
            <a:avLst/>
          </a:prstGeom>
          <a:solidFill>
            <a:srgbClr val="1B4F72"/>
          </a:solidFill>
          <a:ln w="6350">
            <a:solidFill>
              <a:srgbClr val="1B4F7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2834640"/>
            <a:ext cx="3200400" cy="4572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STATUS_NAME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840480" y="28346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ROOMS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3310128"/>
            <a:ext cx="5303520" cy="457200"/>
          </a:xfrm>
          <a:prstGeom prst="rect">
            <a:avLst/>
          </a:prstGeom>
          <a:solidFill>
            <a:srgbClr val="0D2035"/>
          </a:solidFill>
          <a:ln w="6350">
            <a:solidFill>
              <a:srgbClr val="1B4F7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3310128"/>
            <a:ext cx="3200400" cy="4572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Available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840480" y="331012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46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48640" y="3785616"/>
            <a:ext cx="5303520" cy="457200"/>
          </a:xfrm>
          <a:prstGeom prst="rect">
            <a:avLst/>
          </a:prstGeom>
          <a:solidFill>
            <a:srgbClr val="112233"/>
          </a:solidFill>
          <a:ln w="6350">
            <a:solidFill>
              <a:srgbClr val="1B4F7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0080" y="3785616"/>
            <a:ext cx="3200400" cy="4572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Occupied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840480" y="3785616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48640" y="4261104"/>
            <a:ext cx="5303520" cy="457200"/>
          </a:xfrm>
          <a:prstGeom prst="rect">
            <a:avLst/>
          </a:prstGeom>
          <a:solidFill>
            <a:srgbClr val="0D2035"/>
          </a:solidFill>
          <a:ln w="6350">
            <a:solidFill>
              <a:srgbClr val="1B4F7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0080" y="4261104"/>
            <a:ext cx="3200400" cy="4572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Under Maintenance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3840480" y="426110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48640" y="4736592"/>
            <a:ext cx="5303520" cy="457200"/>
          </a:xfrm>
          <a:prstGeom prst="rect">
            <a:avLst/>
          </a:prstGeom>
          <a:solidFill>
            <a:srgbClr val="112233"/>
          </a:solidFill>
          <a:ln w="6350">
            <a:solidFill>
              <a:srgbClr val="1B4F7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0080" y="4736592"/>
            <a:ext cx="3200400" cy="4572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Cleaning in Progress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3840480" y="473659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548640" y="5212080"/>
            <a:ext cx="5303520" cy="457200"/>
          </a:xfrm>
          <a:prstGeom prst="rect">
            <a:avLst/>
          </a:prstGeom>
          <a:solidFill>
            <a:srgbClr val="0D2035"/>
          </a:solidFill>
          <a:ln w="6350">
            <a:solidFill>
              <a:srgbClr val="1B4F7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40080" y="5212080"/>
            <a:ext cx="3200400" cy="4572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Reserved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3840480" y="52120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548640" y="5687568"/>
            <a:ext cx="5303520" cy="457200"/>
          </a:xfrm>
          <a:prstGeom prst="rect">
            <a:avLst/>
          </a:prstGeom>
          <a:solidFill>
            <a:srgbClr val="112233"/>
          </a:solidFill>
          <a:ln w="6350">
            <a:solidFill>
              <a:srgbClr val="1B4F7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40080" y="5687568"/>
            <a:ext cx="3200400" cy="4572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 of Order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3840480" y="568756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6400800" y="1188720"/>
            <a:ext cx="5303520" cy="1234440"/>
          </a:xfrm>
          <a:prstGeom prst="rect">
            <a:avLst/>
          </a:prstGeom>
          <a:solidFill>
            <a:srgbClr val="1B4F72">
              <a:alpha val="75000"/>
            </a:srgbClr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508760"/>
            <a:ext cx="548640" cy="548640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7223760" y="12801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Keys</a:t>
            </a:r>
            <a:endParaRPr lang="en-US" sz="1300" dirty="0"/>
          </a:p>
        </p:txBody>
      </p:sp>
      <p:sp>
        <p:nvSpPr>
          <p:cNvPr id="33" name="Text 29"/>
          <p:cNvSpPr/>
          <p:nvPr/>
        </p:nvSpPr>
        <p:spPr>
          <a:xfrm>
            <a:off x="7223760" y="164592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table has a unique identifier for data integrity.</a:t>
            </a:r>
            <a:endParaRPr lang="en-US" sz="1200" dirty="0"/>
          </a:p>
        </p:txBody>
      </p:sp>
      <p:sp>
        <p:nvSpPr>
          <p:cNvPr id="34" name="Shape 30"/>
          <p:cNvSpPr/>
          <p:nvPr/>
        </p:nvSpPr>
        <p:spPr>
          <a:xfrm>
            <a:off x="6400800" y="2606040"/>
            <a:ext cx="5303520" cy="1234440"/>
          </a:xfrm>
          <a:prstGeom prst="rect">
            <a:avLst/>
          </a:prstGeom>
          <a:solidFill>
            <a:srgbClr val="1B4F72">
              <a:alpha val="75000"/>
            </a:srgbClr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2926080"/>
            <a:ext cx="548640" cy="548640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7223760" y="26974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Keys</a:t>
            </a:r>
            <a:endParaRPr lang="en-US" sz="1300" dirty="0"/>
          </a:p>
        </p:txBody>
      </p:sp>
      <p:sp>
        <p:nvSpPr>
          <p:cNvPr id="37" name="Text 32"/>
          <p:cNvSpPr/>
          <p:nvPr/>
        </p:nvSpPr>
        <p:spPr>
          <a:xfrm>
            <a:off x="7223760" y="306324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constraints prevent orphaned or invalid records.</a:t>
            </a:r>
            <a:endParaRPr lang="en-US" sz="1200" dirty="0"/>
          </a:p>
        </p:txBody>
      </p:sp>
      <p:sp>
        <p:nvSpPr>
          <p:cNvPr id="38" name="Shape 33"/>
          <p:cNvSpPr/>
          <p:nvPr/>
        </p:nvSpPr>
        <p:spPr>
          <a:xfrm>
            <a:off x="6400800" y="4023360"/>
            <a:ext cx="5303520" cy="1234440"/>
          </a:xfrm>
          <a:prstGeom prst="rect">
            <a:avLst/>
          </a:prstGeom>
          <a:solidFill>
            <a:srgbClr val="1B4F72">
              <a:alpha val="75000"/>
            </a:srgbClr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3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4343400"/>
            <a:ext cx="548640" cy="548640"/>
          </a:xfrm>
          <a:prstGeom prst="rect">
            <a:avLst/>
          </a:prstGeom>
        </p:spPr>
      </p:pic>
      <p:sp>
        <p:nvSpPr>
          <p:cNvPr id="40" name="Text 34"/>
          <p:cNvSpPr/>
          <p:nvPr/>
        </p:nvSpPr>
        <p:spPr>
          <a:xfrm>
            <a:off x="7223760" y="41148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</a:t>
            </a:r>
            <a:endParaRPr lang="en-US" sz="1300" dirty="0"/>
          </a:p>
        </p:txBody>
      </p:sp>
      <p:sp>
        <p:nvSpPr>
          <p:cNvPr id="41" name="Text 35"/>
          <p:cNvSpPr/>
          <p:nvPr/>
        </p:nvSpPr>
        <p:spPr>
          <a:xfrm>
            <a:off x="7223760" y="448056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3NF design eliminates redundancy across all tables.</a:t>
            </a:r>
            <a:endParaRPr lang="en-US" sz="1200" dirty="0"/>
          </a:p>
        </p:txBody>
      </p:sp>
      <p:sp>
        <p:nvSpPr>
          <p:cNvPr id="42" name="Shape 36"/>
          <p:cNvSpPr/>
          <p:nvPr/>
        </p:nvSpPr>
        <p:spPr>
          <a:xfrm>
            <a:off x="6400800" y="5440680"/>
            <a:ext cx="5303520" cy="1234440"/>
          </a:xfrm>
          <a:prstGeom prst="rect">
            <a:avLst/>
          </a:prstGeom>
          <a:solidFill>
            <a:srgbClr val="1B4F72">
              <a:alpha val="75000"/>
            </a:srgbClr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4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960" y="5760720"/>
            <a:ext cx="548640" cy="548640"/>
          </a:xfrm>
          <a:prstGeom prst="rect">
            <a:avLst/>
          </a:prstGeom>
        </p:spPr>
      </p:pic>
      <p:sp>
        <p:nvSpPr>
          <p:cNvPr id="44" name="Text 37"/>
          <p:cNvSpPr/>
          <p:nvPr/>
        </p:nvSpPr>
        <p:spPr>
          <a:xfrm>
            <a:off x="7223760" y="55321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Indexes</a:t>
            </a:r>
            <a:endParaRPr lang="en-US" sz="1300" dirty="0"/>
          </a:p>
        </p:txBody>
      </p:sp>
      <p:sp>
        <p:nvSpPr>
          <p:cNvPr id="45" name="Text 38"/>
          <p:cNvSpPr/>
          <p:nvPr/>
        </p:nvSpPr>
        <p:spPr>
          <a:xfrm>
            <a:off x="7223760" y="589788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indexing on foreign keys ensures fast queries.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D1B2A">
              <a:alpha val="75000"/>
            </a:srgbClr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"/>
            <a:ext cx="685800" cy="685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Room Types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365760" y="1097280"/>
            <a:ext cx="2743200" cy="242316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65760" y="1097280"/>
            <a:ext cx="2743200" cy="4572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1097280"/>
            <a:ext cx="2560320" cy="4572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Single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1645920"/>
            <a:ext cx="2560320" cy="3200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🛏 Beds: 1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2011680" y="1600200"/>
            <a:ext cx="914400" cy="384048"/>
          </a:xfrm>
          <a:prstGeom prst="roundRect">
            <a:avLst>
              <a:gd name="adj" fmla="val 14286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011680" y="160020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rooms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2057400"/>
            <a:ext cx="2560320" cy="12801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Wardrobe, Work Desk, Private Bathroom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291840" y="1097280"/>
            <a:ext cx="2743200" cy="242316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91840" y="1097280"/>
            <a:ext cx="2743200" cy="4572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383280" y="1097280"/>
            <a:ext cx="2560320" cy="4572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Double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383280" y="1645920"/>
            <a:ext cx="2560320" cy="3200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🛏 Beds: 2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937760" y="1600200"/>
            <a:ext cx="914400" cy="384048"/>
          </a:xfrm>
          <a:prstGeom prst="roundRect">
            <a:avLst>
              <a:gd name="adj" fmla="val 14286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937760" y="160020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rooms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3383280" y="2057400"/>
            <a:ext cx="2560320" cy="12801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Wardrobe, Work Desk, Private Bathroom, Sofa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217920" y="1097280"/>
            <a:ext cx="2743200" cy="242316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217920" y="1097280"/>
            <a:ext cx="2743200" cy="4572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309360" y="1097280"/>
            <a:ext cx="2560320" cy="4572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Deluxe Single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309360" y="1645920"/>
            <a:ext cx="2560320" cy="3200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🛏 Beds: 1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7863840" y="1600200"/>
            <a:ext cx="914400" cy="384048"/>
          </a:xfrm>
          <a:prstGeom prst="roundRect">
            <a:avLst>
              <a:gd name="adj" fmla="val 14286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863840" y="160020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rooms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309360" y="2057400"/>
            <a:ext cx="2560320" cy="12801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Bar, Private Bathroom, Balcony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9144000" y="1097280"/>
            <a:ext cx="2743200" cy="242316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9144000" y="1097280"/>
            <a:ext cx="2743200" cy="4572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235440" y="1097280"/>
            <a:ext cx="2560320" cy="4572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Deluxe Double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9235440" y="1645920"/>
            <a:ext cx="2560320" cy="3200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🛏 Beds: 2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10789920" y="1600200"/>
            <a:ext cx="914400" cy="384048"/>
          </a:xfrm>
          <a:prstGeom prst="roundRect">
            <a:avLst>
              <a:gd name="adj" fmla="val 14286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0789920" y="160020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rooms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9235440" y="2057400"/>
            <a:ext cx="2560320" cy="12801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Bar, Private Bathroom, Balcony, Sofa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365760" y="3749040"/>
            <a:ext cx="2743200" cy="242316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365760" y="3749040"/>
            <a:ext cx="2743200" cy="4572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57200" y="3749040"/>
            <a:ext cx="2560320" cy="4572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457200" y="4297680"/>
            <a:ext cx="2560320" cy="3200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🛏 Beds: 3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2011680" y="4251960"/>
            <a:ext cx="914400" cy="384048"/>
          </a:xfrm>
          <a:prstGeom prst="roundRect">
            <a:avLst>
              <a:gd name="adj" fmla="val 14286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2011680" y="425196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rooms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457200" y="4709160"/>
            <a:ext cx="2560320" cy="12801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Jacuzzi, Living Room, Balcony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3291840" y="3749040"/>
            <a:ext cx="2743200" cy="242316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3291840" y="3749040"/>
            <a:ext cx="2743200" cy="4572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3383280" y="3749040"/>
            <a:ext cx="2560320" cy="4572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Room</a:t>
            </a:r>
            <a:endParaRPr lang="en-US" sz="1200" dirty="0"/>
          </a:p>
        </p:txBody>
      </p:sp>
      <p:sp>
        <p:nvSpPr>
          <p:cNvPr id="44" name="Text 41"/>
          <p:cNvSpPr/>
          <p:nvPr/>
        </p:nvSpPr>
        <p:spPr>
          <a:xfrm>
            <a:off x="3383280" y="4297680"/>
            <a:ext cx="2560320" cy="3200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🛏 Beds: 4</a:t>
            </a:r>
            <a:endParaRPr lang="en-US" sz="1300" dirty="0"/>
          </a:p>
        </p:txBody>
      </p:sp>
      <p:sp>
        <p:nvSpPr>
          <p:cNvPr id="45" name="Shape 42"/>
          <p:cNvSpPr/>
          <p:nvPr/>
        </p:nvSpPr>
        <p:spPr>
          <a:xfrm>
            <a:off x="4937760" y="4251960"/>
            <a:ext cx="914400" cy="384048"/>
          </a:xfrm>
          <a:prstGeom prst="roundRect">
            <a:avLst>
              <a:gd name="adj" fmla="val 14286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4937760" y="425196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rooms</a:t>
            </a:r>
            <a:endParaRPr lang="en-US" sz="1100" dirty="0"/>
          </a:p>
        </p:txBody>
      </p:sp>
      <p:sp>
        <p:nvSpPr>
          <p:cNvPr id="47" name="Text 44"/>
          <p:cNvSpPr/>
          <p:nvPr/>
        </p:nvSpPr>
        <p:spPr>
          <a:xfrm>
            <a:off x="3383280" y="4709160"/>
            <a:ext cx="2560320" cy="12801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Bar, Kids Play Area, Sofa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6217920" y="3749040"/>
            <a:ext cx="2743200" cy="242316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9" name="Shape 46"/>
          <p:cNvSpPr/>
          <p:nvPr/>
        </p:nvSpPr>
        <p:spPr>
          <a:xfrm>
            <a:off x="6217920" y="3749040"/>
            <a:ext cx="2743200" cy="4572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6309360" y="3749040"/>
            <a:ext cx="2560320" cy="4572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Suite</a:t>
            </a:r>
            <a:endParaRPr lang="en-US" sz="1200" dirty="0"/>
          </a:p>
        </p:txBody>
      </p:sp>
      <p:sp>
        <p:nvSpPr>
          <p:cNvPr id="51" name="Text 48"/>
          <p:cNvSpPr/>
          <p:nvPr/>
        </p:nvSpPr>
        <p:spPr>
          <a:xfrm>
            <a:off x="6309360" y="4297680"/>
            <a:ext cx="2560320" cy="3200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🛏 Beds: 3</a:t>
            </a:r>
            <a:endParaRPr lang="en-US" sz="1300" dirty="0"/>
          </a:p>
        </p:txBody>
      </p:sp>
      <p:sp>
        <p:nvSpPr>
          <p:cNvPr id="52" name="Shape 49"/>
          <p:cNvSpPr/>
          <p:nvPr/>
        </p:nvSpPr>
        <p:spPr>
          <a:xfrm>
            <a:off x="7863840" y="4251960"/>
            <a:ext cx="914400" cy="384048"/>
          </a:xfrm>
          <a:prstGeom prst="roundRect">
            <a:avLst>
              <a:gd name="adj" fmla="val 14286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7863840" y="425196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rooms</a:t>
            </a:r>
            <a:endParaRPr lang="en-US" sz="1100" dirty="0"/>
          </a:p>
        </p:txBody>
      </p:sp>
      <p:sp>
        <p:nvSpPr>
          <p:cNvPr id="54" name="Text 51"/>
          <p:cNvSpPr/>
          <p:nvPr/>
        </p:nvSpPr>
        <p:spPr>
          <a:xfrm>
            <a:off x="6309360" y="4709160"/>
            <a:ext cx="2560320" cy="12801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Jacuzzi, Office Space, Balcony</a:t>
            </a:r>
            <a:endParaRPr lang="en-US" sz="1000" dirty="0"/>
          </a:p>
        </p:txBody>
      </p:sp>
      <p:sp>
        <p:nvSpPr>
          <p:cNvPr id="55" name="Shape 52"/>
          <p:cNvSpPr/>
          <p:nvPr/>
        </p:nvSpPr>
        <p:spPr>
          <a:xfrm>
            <a:off x="9144000" y="3749040"/>
            <a:ext cx="2743200" cy="242316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6" name="Shape 53"/>
          <p:cNvSpPr/>
          <p:nvPr/>
        </p:nvSpPr>
        <p:spPr>
          <a:xfrm>
            <a:off x="9144000" y="3749040"/>
            <a:ext cx="2743200" cy="4572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9235440" y="3749040"/>
            <a:ext cx="2560320" cy="4572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Presidential Suite</a:t>
            </a:r>
            <a:endParaRPr lang="en-US" sz="1200" dirty="0"/>
          </a:p>
        </p:txBody>
      </p:sp>
      <p:sp>
        <p:nvSpPr>
          <p:cNvPr id="58" name="Text 55"/>
          <p:cNvSpPr/>
          <p:nvPr/>
        </p:nvSpPr>
        <p:spPr>
          <a:xfrm>
            <a:off x="9235440" y="4297680"/>
            <a:ext cx="2560320" cy="3200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🛏 Beds: 4</a:t>
            </a:r>
            <a:endParaRPr lang="en-US" sz="1300" dirty="0"/>
          </a:p>
        </p:txBody>
      </p:sp>
      <p:sp>
        <p:nvSpPr>
          <p:cNvPr id="59" name="Shape 56"/>
          <p:cNvSpPr/>
          <p:nvPr/>
        </p:nvSpPr>
        <p:spPr>
          <a:xfrm>
            <a:off x="10789920" y="4251960"/>
            <a:ext cx="914400" cy="384048"/>
          </a:xfrm>
          <a:prstGeom prst="roundRect">
            <a:avLst>
              <a:gd name="adj" fmla="val 14286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10789920" y="425196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rooms</a:t>
            </a:r>
            <a:endParaRPr lang="en-US" sz="1100" dirty="0"/>
          </a:p>
        </p:txBody>
      </p:sp>
      <p:sp>
        <p:nvSpPr>
          <p:cNvPr id="61" name="Text 58"/>
          <p:cNvSpPr/>
          <p:nvPr/>
        </p:nvSpPr>
        <p:spPr>
          <a:xfrm>
            <a:off x="9235440" y="4709160"/>
            <a:ext cx="2560320" cy="12801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Jacuzzi, Dining Area, Kitchen, Balcony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images.unsplash.com/photo-1414235077428-338989a2e8c0?w=1920&amp;q=80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457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1B4F72">
              <a:alpha val="65000"/>
            </a:srgbClr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74320" y="2286000"/>
            <a:ext cx="4023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Staff</a:t>
            </a:r>
            <a:endParaRPr lang="en-US" sz="3800" dirty="0"/>
          </a:p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Management</a:t>
            </a:r>
            <a:endParaRPr lang="en-US" sz="3800" dirty="0"/>
          </a:p>
        </p:txBody>
      </p:sp>
      <p:sp>
        <p:nvSpPr>
          <p:cNvPr id="5" name="Shape 2"/>
          <p:cNvSpPr/>
          <p:nvPr/>
        </p:nvSpPr>
        <p:spPr>
          <a:xfrm>
            <a:off x="274320" y="4297680"/>
            <a:ext cx="1828800" cy="9144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274320" y="42976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274320" y="47548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377440" y="4297680"/>
            <a:ext cx="1828800" cy="9144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2377440" y="42976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2377440" y="47548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Receptionists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74320" y="5394960"/>
            <a:ext cx="1828800" cy="9144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274320" y="53949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274320" y="58521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Housekeepers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2377440" y="5394960"/>
            <a:ext cx="1828800" cy="9144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2377440" y="53949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2377440" y="58521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572000" y="0"/>
            <a:ext cx="164592" cy="68580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82880"/>
            <a:ext cx="640080" cy="6400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669280" y="18288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4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Role Permissions</a:t>
            </a:r>
            <a:endParaRPr lang="en-US" sz="2600" dirty="0"/>
          </a:p>
        </p:txBody>
      </p:sp>
      <p:sp>
        <p:nvSpPr>
          <p:cNvPr id="20" name="Shape 16"/>
          <p:cNvSpPr/>
          <p:nvPr/>
        </p:nvSpPr>
        <p:spPr>
          <a:xfrm>
            <a:off x="4937760" y="1005840"/>
            <a:ext cx="685800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AF4F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Text 17"/>
          <p:cNvSpPr/>
          <p:nvPr/>
        </p:nvSpPr>
        <p:spPr>
          <a:xfrm>
            <a:off x="5029200" y="1051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7223760" y="1097280"/>
            <a:ext cx="1645920" cy="320040"/>
          </a:xfrm>
          <a:prstGeom prst="roundRect">
            <a:avLst>
              <a:gd name="adj" fmla="val 14286"/>
            </a:avLst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7223760" y="10972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read, write, delete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5029200" y="1435608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system access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4937760" y="1938528"/>
            <a:ext cx="6858000" cy="804672"/>
          </a:xfrm>
          <a:prstGeom prst="rect">
            <a:avLst/>
          </a:prstGeom>
          <a:solidFill>
            <a:srgbClr val="EAF4FB"/>
          </a:solidFill>
          <a:ln w="6350">
            <a:solidFill>
              <a:srgbClr val="EAF4FB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5029200" y="19842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300" dirty="0"/>
          </a:p>
        </p:txBody>
      </p:sp>
      <p:sp>
        <p:nvSpPr>
          <p:cNvPr id="27" name="Shape 23"/>
          <p:cNvSpPr/>
          <p:nvPr/>
        </p:nvSpPr>
        <p:spPr>
          <a:xfrm>
            <a:off x="7223760" y="2029968"/>
            <a:ext cx="1645920" cy="320040"/>
          </a:xfrm>
          <a:prstGeom prst="roundRect">
            <a:avLst>
              <a:gd name="adj" fmla="val 14286"/>
            </a:avLst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7223760" y="202996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read, write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5029200" y="2368296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and edit records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4937760" y="2871216"/>
            <a:ext cx="685800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AF4FB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5029200" y="291693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Receptionist</a:t>
            </a:r>
            <a:endParaRPr lang="en-US" sz="1300" dirty="0"/>
          </a:p>
        </p:txBody>
      </p:sp>
      <p:sp>
        <p:nvSpPr>
          <p:cNvPr id="32" name="Shape 28"/>
          <p:cNvSpPr/>
          <p:nvPr/>
        </p:nvSpPr>
        <p:spPr>
          <a:xfrm>
            <a:off x="7223760" y="2962656"/>
            <a:ext cx="1645920" cy="320040"/>
          </a:xfrm>
          <a:prstGeom prst="roundRect">
            <a:avLst>
              <a:gd name="adj" fmla="val 14286"/>
            </a:avLst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7223760" y="2962656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read, write</a:t>
            </a:r>
            <a:endParaRPr lang="en-US" sz="900" dirty="0"/>
          </a:p>
        </p:txBody>
      </p:sp>
      <p:sp>
        <p:nvSpPr>
          <p:cNvPr id="34" name="Text 30"/>
          <p:cNvSpPr/>
          <p:nvPr/>
        </p:nvSpPr>
        <p:spPr>
          <a:xfrm>
            <a:off x="5029200" y="3300984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Check-in, check-out, assignments</a:t>
            </a:r>
            <a:endParaRPr lang="en-US" sz="1100" dirty="0"/>
          </a:p>
        </p:txBody>
      </p:sp>
      <p:sp>
        <p:nvSpPr>
          <p:cNvPr id="35" name="Shape 31"/>
          <p:cNvSpPr/>
          <p:nvPr/>
        </p:nvSpPr>
        <p:spPr>
          <a:xfrm>
            <a:off x="4937760" y="3803904"/>
            <a:ext cx="6858000" cy="804672"/>
          </a:xfrm>
          <a:prstGeom prst="rect">
            <a:avLst/>
          </a:prstGeom>
          <a:solidFill>
            <a:srgbClr val="EAF4FB"/>
          </a:solidFill>
          <a:ln w="6350">
            <a:solidFill>
              <a:srgbClr val="EAF4FB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5029200" y="384962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Housekeeper</a:t>
            </a:r>
            <a:endParaRPr lang="en-US" sz="1300" dirty="0"/>
          </a:p>
        </p:txBody>
      </p:sp>
      <p:sp>
        <p:nvSpPr>
          <p:cNvPr id="37" name="Shape 33"/>
          <p:cNvSpPr/>
          <p:nvPr/>
        </p:nvSpPr>
        <p:spPr>
          <a:xfrm>
            <a:off x="7223760" y="3895344"/>
            <a:ext cx="1645920" cy="320040"/>
          </a:xfrm>
          <a:prstGeom prst="roundRect">
            <a:avLst>
              <a:gd name="adj" fmla="val 14286"/>
            </a:avLst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7223760" y="389534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900" dirty="0"/>
          </a:p>
        </p:txBody>
      </p:sp>
      <p:sp>
        <p:nvSpPr>
          <p:cNvPr id="39" name="Text 35"/>
          <p:cNvSpPr/>
          <p:nvPr/>
        </p:nvSpPr>
        <p:spPr>
          <a:xfrm>
            <a:off x="5029200" y="4233672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cleaning &amp; status updates</a:t>
            </a:r>
            <a:endParaRPr lang="en-US" sz="1100" dirty="0"/>
          </a:p>
        </p:txBody>
      </p:sp>
      <p:sp>
        <p:nvSpPr>
          <p:cNvPr id="40" name="Shape 36"/>
          <p:cNvSpPr/>
          <p:nvPr/>
        </p:nvSpPr>
        <p:spPr>
          <a:xfrm>
            <a:off x="4937760" y="4736592"/>
            <a:ext cx="685800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AF4FB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5029200" y="478231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Tech</a:t>
            </a:r>
            <a:endParaRPr lang="en-US" sz="1300" dirty="0"/>
          </a:p>
        </p:txBody>
      </p:sp>
      <p:sp>
        <p:nvSpPr>
          <p:cNvPr id="42" name="Shape 38"/>
          <p:cNvSpPr/>
          <p:nvPr/>
        </p:nvSpPr>
        <p:spPr>
          <a:xfrm>
            <a:off x="7223760" y="4828032"/>
            <a:ext cx="1645920" cy="320040"/>
          </a:xfrm>
          <a:prstGeom prst="roundRect">
            <a:avLst>
              <a:gd name="adj" fmla="val 14286"/>
            </a:avLst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7223760" y="482803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read, write</a:t>
            </a:r>
            <a:endParaRPr lang="en-US" sz="900" dirty="0"/>
          </a:p>
        </p:txBody>
      </p:sp>
      <p:sp>
        <p:nvSpPr>
          <p:cNvPr id="44" name="Text 40"/>
          <p:cNvSpPr/>
          <p:nvPr/>
        </p:nvSpPr>
        <p:spPr>
          <a:xfrm>
            <a:off x="5029200" y="516636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Repairs and maintenance tasks</a:t>
            </a:r>
            <a:endParaRPr lang="en-US" sz="1100" dirty="0"/>
          </a:p>
        </p:txBody>
      </p:sp>
      <p:sp>
        <p:nvSpPr>
          <p:cNvPr id="45" name="Shape 41"/>
          <p:cNvSpPr/>
          <p:nvPr/>
        </p:nvSpPr>
        <p:spPr>
          <a:xfrm>
            <a:off x="4937760" y="5669280"/>
            <a:ext cx="6858000" cy="804672"/>
          </a:xfrm>
          <a:prstGeom prst="rect">
            <a:avLst/>
          </a:prstGeom>
          <a:solidFill>
            <a:srgbClr val="EAF4FB"/>
          </a:solidFill>
          <a:ln w="6350">
            <a:solidFill>
              <a:srgbClr val="EAF4FB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5029200" y="5715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Inspector</a:t>
            </a:r>
            <a:endParaRPr lang="en-US" sz="1300" dirty="0"/>
          </a:p>
        </p:txBody>
      </p:sp>
      <p:sp>
        <p:nvSpPr>
          <p:cNvPr id="47" name="Shape 43"/>
          <p:cNvSpPr/>
          <p:nvPr/>
        </p:nvSpPr>
        <p:spPr>
          <a:xfrm>
            <a:off x="7223760" y="5760720"/>
            <a:ext cx="1645920" cy="320040"/>
          </a:xfrm>
          <a:prstGeom prst="roundRect">
            <a:avLst>
              <a:gd name="adj" fmla="val 14286"/>
            </a:avLst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7223760" y="57607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900" dirty="0"/>
          </a:p>
        </p:txBody>
      </p:sp>
      <p:sp>
        <p:nvSpPr>
          <p:cNvPr id="49" name="Text 45"/>
          <p:cNvSpPr/>
          <p:nvPr/>
        </p:nvSpPr>
        <p:spPr>
          <a:xfrm>
            <a:off x="5029200" y="6099048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rooms before guest check-in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37160"/>
            <a:ext cx="685800" cy="685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Queries &amp; Reports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365760" y="1097280"/>
            <a:ext cx="3657600" cy="5394960"/>
          </a:xfrm>
          <a:prstGeom prst="rect">
            <a:avLst/>
          </a:prstGeom>
          <a:solidFill>
            <a:srgbClr val="0D2035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65760" y="1097280"/>
            <a:ext cx="3657600" cy="50292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1115568"/>
            <a:ext cx="3474720" cy="4572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by Role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1691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SQL: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1965960"/>
            <a:ext cx="3474720" cy="1280160"/>
          </a:xfrm>
          <a:prstGeom prst="rect">
            <a:avLst/>
          </a:prstGeom>
          <a:solidFill>
            <a:srgbClr val="061020"/>
          </a:solidFill>
          <a:ln w="6350">
            <a:solidFill>
              <a:srgbClr val="1B4F7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201168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role, COUNT(staff_id)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staff GROUP BY role;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7200" y="3337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3611880"/>
            <a:ext cx="3474720" cy="914400"/>
          </a:xfrm>
          <a:prstGeom prst="rect">
            <a:avLst/>
          </a:prstGeom>
          <a:solidFill>
            <a:srgbClr val="0A2010"/>
          </a:solidFill>
          <a:ln w="6350">
            <a:solidFill>
              <a:srgbClr val="117A6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" y="3611880"/>
            <a:ext cx="3291840" cy="9144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manager:2, receptionist:4,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housekeeper:5, maintenance:4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46634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Use case: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57200" y="4983480"/>
            <a:ext cx="3474720" cy="12801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planning &amp; shift management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297680" y="1097280"/>
            <a:ext cx="3657600" cy="5394960"/>
          </a:xfrm>
          <a:prstGeom prst="rect">
            <a:avLst/>
          </a:prstGeom>
          <a:solidFill>
            <a:srgbClr val="0D2035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297680" y="1097280"/>
            <a:ext cx="3657600" cy="50292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389120" y="1115568"/>
            <a:ext cx="3474720" cy="4572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Type Summary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4389120" y="1691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SQL: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389120" y="1965960"/>
            <a:ext cx="3474720" cy="1280160"/>
          </a:xfrm>
          <a:prstGeom prst="rect">
            <a:avLst/>
          </a:prstGeom>
          <a:solidFill>
            <a:srgbClr val="061020"/>
          </a:solidFill>
          <a:ln w="6350">
            <a:solidFill>
              <a:srgbClr val="1B4F7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480560" y="201168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rt.TYPE_NAME, COUNT(r.ROOM_ID),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rt.BED_COUNT FROM room r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room_type rt ON r.ROOM_TYPE_ID=...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389120" y="3337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389120" y="3611880"/>
            <a:ext cx="3474720" cy="914400"/>
          </a:xfrm>
          <a:prstGeom prst="rect">
            <a:avLst/>
          </a:prstGeom>
          <a:solidFill>
            <a:srgbClr val="0A2010"/>
          </a:solidFill>
          <a:ln w="6350">
            <a:solidFill>
              <a:srgbClr val="117A65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480560" y="3611880"/>
            <a:ext cx="3291840" cy="9144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room types, 100 total rooms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Presidential Suite: 10 rooms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389120" y="46634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Use case: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389120" y="4983480"/>
            <a:ext cx="3474720" cy="12801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&amp; marketing strategy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8229600" y="1097280"/>
            <a:ext cx="3657600" cy="5394960"/>
          </a:xfrm>
          <a:prstGeom prst="rect">
            <a:avLst/>
          </a:prstGeom>
          <a:solidFill>
            <a:srgbClr val="0D2035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8229600" y="1097280"/>
            <a:ext cx="3657600" cy="50292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321040" y="1115568"/>
            <a:ext cx="3474720" cy="4572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vs Inactive Staff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8321040" y="1691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SQL: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8321040" y="1965960"/>
            <a:ext cx="3474720" cy="1280160"/>
          </a:xfrm>
          <a:prstGeom prst="rect">
            <a:avLst/>
          </a:prstGeom>
          <a:solidFill>
            <a:srgbClr val="061020"/>
          </a:solidFill>
          <a:ln w="6350">
            <a:solidFill>
              <a:srgbClr val="1B4F72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412480" y="201168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status, COUNT(staff_id)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staff GROUP BY status;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8321040" y="3337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8321040" y="3611880"/>
            <a:ext cx="3474720" cy="914400"/>
          </a:xfrm>
          <a:prstGeom prst="rect">
            <a:avLst/>
          </a:prstGeom>
          <a:solidFill>
            <a:srgbClr val="0A2010"/>
          </a:solidFill>
          <a:ln w="6350">
            <a:solidFill>
              <a:srgbClr val="117A65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412480" y="3611880"/>
            <a:ext cx="3291840" cy="9144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active:13, on_leave:1,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inactive:1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8321040" y="46634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Use case: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8321040" y="4983480"/>
            <a:ext cx="3474720" cy="12801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staff availability &amp; shifts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D1B2A">
              <a:alpha val="70000"/>
            </a:srgbClr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"/>
            <a:ext cx="685800" cy="685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Implementation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457200" y="1097280"/>
            <a:ext cx="2560320" cy="14630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57200" y="11887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457200" y="20116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Rooms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383280" y="1097280"/>
            <a:ext cx="2560320" cy="14630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383280" y="11887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4800" dirty="0"/>
          </a:p>
        </p:txBody>
      </p:sp>
      <p:sp>
        <p:nvSpPr>
          <p:cNvPr id="11" name="Text 8"/>
          <p:cNvSpPr/>
          <p:nvPr/>
        </p:nvSpPr>
        <p:spPr>
          <a:xfrm>
            <a:off x="3383280" y="20116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Tables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309360" y="1097280"/>
            <a:ext cx="2560320" cy="14630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309360" y="11887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15+</a:t>
            </a:r>
            <a:endParaRPr lang="en-US" sz="4800" dirty="0"/>
          </a:p>
        </p:txBody>
      </p:sp>
      <p:sp>
        <p:nvSpPr>
          <p:cNvPr id="14" name="Text 11"/>
          <p:cNvSpPr/>
          <p:nvPr/>
        </p:nvSpPr>
        <p:spPr>
          <a:xfrm>
            <a:off x="6309360" y="20116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Roles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9235440" y="1097280"/>
            <a:ext cx="2560320" cy="14630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9235440" y="11887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4800" dirty="0"/>
          </a:p>
        </p:txBody>
      </p:sp>
      <p:sp>
        <p:nvSpPr>
          <p:cNvPr id="17" name="Text 14"/>
          <p:cNvSpPr/>
          <p:nvPr/>
        </p:nvSpPr>
        <p:spPr>
          <a:xfrm>
            <a:off x="9235440" y="20116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Types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57200" y="2926080"/>
            <a:ext cx="5577840" cy="1600200"/>
          </a:xfrm>
          <a:prstGeom prst="rect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94360" y="3246120"/>
            <a:ext cx="777240" cy="777240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4360" y="32461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508760" y="306324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Design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1508760" y="347472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normalized tables in 3NF with proper primary and foreign keys for all entities.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400800" y="2926080"/>
            <a:ext cx="5577840" cy="1600200"/>
          </a:xfrm>
          <a:prstGeom prst="rect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537960" y="3246120"/>
            <a:ext cx="777240" cy="777240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537960" y="32461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7452360" y="306324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Setup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7452360" y="347472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all 9 tables in MySQL with constraints, indexes, and referential integrity.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457200" y="4754880"/>
            <a:ext cx="5577840" cy="1600200"/>
          </a:xfrm>
          <a:prstGeom prst="rect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594360" y="5074920"/>
            <a:ext cx="777240" cy="777240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94360" y="5074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1508760" y="489204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1508760" y="530352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Populated tables with 100 rooms, 15 staff members, guests, bookings, and tasks.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6400800" y="4754880"/>
            <a:ext cx="5577840" cy="1600200"/>
          </a:xfrm>
          <a:prstGeom prst="rect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537960" y="5074920"/>
            <a:ext cx="777240" cy="777240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537960" y="5074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7452360" y="489204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Testing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7452360" y="530352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Executed analytical queries to verify reporting functionality and system behavior.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37160"/>
            <a:ext cx="685800" cy="685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Findings</a:t>
            </a:r>
            <a:endParaRPr lang="en-US" sz="3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005840"/>
          <a:ext cx="5029200" cy="5303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5852160" y="1005840"/>
            <a:ext cx="5943600" cy="1188720"/>
          </a:xfrm>
          <a:prstGeom prst="rect">
            <a:avLst/>
          </a:prstGeom>
          <a:solidFill>
            <a:srgbClr val="1B4F72">
              <a:alpha val="75000"/>
            </a:srgbClr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1280160"/>
            <a:ext cx="640080" cy="64008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766560" y="10515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46%</a:t>
            </a:r>
            <a:endParaRPr lang="en-US" sz="2800" dirty="0"/>
          </a:p>
        </p:txBody>
      </p:sp>
      <p:sp>
        <p:nvSpPr>
          <p:cNvPr id="9" name="Text 4"/>
          <p:cNvSpPr/>
          <p:nvPr/>
        </p:nvSpPr>
        <p:spPr>
          <a:xfrm>
            <a:off x="7863840" y="10972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Rate</a:t>
            </a:r>
            <a:endParaRPr lang="en-US" sz="1300" dirty="0"/>
          </a:p>
        </p:txBody>
      </p:sp>
      <p:sp>
        <p:nvSpPr>
          <p:cNvPr id="10" name="Text 5"/>
          <p:cNvSpPr/>
          <p:nvPr/>
        </p:nvSpPr>
        <p:spPr>
          <a:xfrm>
            <a:off x="6766560" y="16002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half the rooms ready for new guests at any time.</a:t>
            </a:r>
            <a:endParaRPr lang="en-US" sz="1100" dirty="0"/>
          </a:p>
        </p:txBody>
      </p:sp>
      <p:sp>
        <p:nvSpPr>
          <p:cNvPr id="11" name="Shape 6"/>
          <p:cNvSpPr/>
          <p:nvPr/>
        </p:nvSpPr>
        <p:spPr>
          <a:xfrm>
            <a:off x="5852160" y="2377440"/>
            <a:ext cx="5943600" cy="1188720"/>
          </a:xfrm>
          <a:prstGeom prst="rect">
            <a:avLst/>
          </a:prstGeom>
          <a:solidFill>
            <a:srgbClr val="1B4F72">
              <a:alpha val="75000"/>
            </a:srgbClr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2651760"/>
            <a:ext cx="640080" cy="6400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766560" y="24231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20%</a:t>
            </a:r>
            <a:endParaRPr lang="en-US" sz="2800" dirty="0"/>
          </a:p>
        </p:txBody>
      </p:sp>
      <p:sp>
        <p:nvSpPr>
          <p:cNvPr id="14" name="Text 8"/>
          <p:cNvSpPr/>
          <p:nvPr/>
        </p:nvSpPr>
        <p:spPr>
          <a:xfrm>
            <a:off x="7863840" y="24688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 Rate</a:t>
            </a:r>
            <a:endParaRPr lang="en-US" sz="1300" dirty="0"/>
          </a:p>
        </p:txBody>
      </p:sp>
      <p:sp>
        <p:nvSpPr>
          <p:cNvPr id="15" name="Text 9"/>
          <p:cNvSpPr/>
          <p:nvPr/>
        </p:nvSpPr>
        <p:spPr>
          <a:xfrm>
            <a:off x="6766560" y="29718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rooms actively hosting guests in the sample dataset.</a:t>
            </a:r>
            <a:endParaRPr lang="en-US" sz="1100" dirty="0"/>
          </a:p>
        </p:txBody>
      </p:sp>
      <p:sp>
        <p:nvSpPr>
          <p:cNvPr id="16" name="Shape 10"/>
          <p:cNvSpPr/>
          <p:nvPr/>
        </p:nvSpPr>
        <p:spPr>
          <a:xfrm>
            <a:off x="5852160" y="3749040"/>
            <a:ext cx="5943600" cy="1188720"/>
          </a:xfrm>
          <a:prstGeom prst="rect">
            <a:avLst/>
          </a:prstGeom>
          <a:solidFill>
            <a:srgbClr val="1B4F72">
              <a:alpha val="75000"/>
            </a:srgbClr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9320" y="4023360"/>
            <a:ext cx="640080" cy="64008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766560" y="37947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12%</a:t>
            </a:r>
            <a:endParaRPr lang="en-US" sz="2800" dirty="0"/>
          </a:p>
        </p:txBody>
      </p:sp>
      <p:sp>
        <p:nvSpPr>
          <p:cNvPr id="19" name="Text 12"/>
          <p:cNvSpPr/>
          <p:nvPr/>
        </p:nvSpPr>
        <p:spPr>
          <a:xfrm>
            <a:off x="7863840" y="38404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Drag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6766560" y="43434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rooms under maintenance, 5 out of order — 12% capacity loss.</a:t>
            </a:r>
            <a:endParaRPr lang="en-US" sz="1100" dirty="0"/>
          </a:p>
        </p:txBody>
      </p:sp>
      <p:sp>
        <p:nvSpPr>
          <p:cNvPr id="21" name="Shape 14"/>
          <p:cNvSpPr/>
          <p:nvPr/>
        </p:nvSpPr>
        <p:spPr>
          <a:xfrm>
            <a:off x="5852160" y="5120640"/>
            <a:ext cx="5943600" cy="1188720"/>
          </a:xfrm>
          <a:prstGeom prst="rect">
            <a:avLst/>
          </a:prstGeom>
          <a:solidFill>
            <a:srgbClr val="1B4F72">
              <a:alpha val="75000"/>
            </a:srgbClr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9320" y="5394960"/>
            <a:ext cx="640080" cy="64008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6766560" y="51663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13%</a:t>
            </a:r>
            <a:endParaRPr lang="en-US" sz="2800" dirty="0"/>
          </a:p>
        </p:txBody>
      </p:sp>
      <p:sp>
        <p:nvSpPr>
          <p:cNvPr id="24" name="Text 16"/>
          <p:cNvSpPr/>
          <p:nvPr/>
        </p:nvSpPr>
        <p:spPr>
          <a:xfrm>
            <a:off x="7863840" y="52120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Pipeline</a:t>
            </a:r>
            <a:endParaRPr lang="en-US" sz="1300" dirty="0"/>
          </a:p>
        </p:txBody>
      </p:sp>
      <p:sp>
        <p:nvSpPr>
          <p:cNvPr id="25" name="Text 17"/>
          <p:cNvSpPr/>
          <p:nvPr/>
        </p:nvSpPr>
        <p:spPr>
          <a:xfrm>
            <a:off x="6766560" y="57150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rooms in progress — housekeeping automation is critical.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D1B2A">
              <a:alpha val="80000"/>
            </a:srgbClr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457200"/>
            <a:ext cx="2103120" cy="21031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65176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4200" dirty="0"/>
          </a:p>
        </p:txBody>
      </p:sp>
      <p:sp>
        <p:nvSpPr>
          <p:cNvPr id="6" name="Shape 3"/>
          <p:cNvSpPr/>
          <p:nvPr/>
        </p:nvSpPr>
        <p:spPr>
          <a:xfrm>
            <a:off x="3200400" y="3566160"/>
            <a:ext cx="5760720" cy="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97280" y="3794760"/>
            <a:ext cx="228600" cy="22860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463040" y="374904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relational model eliminates double bookings and idle room problems.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1097280" y="4389120"/>
            <a:ext cx="228600" cy="22860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463040" y="434340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pricing and real-time availability maximizes revenue potential.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1097280" y="4983480"/>
            <a:ext cx="228600" cy="22860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463040" y="493776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housekeeping and maintenance scheduling reduce operational delays.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1097280" y="5577840"/>
            <a:ext cx="228600" cy="22860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463040" y="55321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MySQL implementation demonstrates database theory in a real-world scenario.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Bulwadda Titus Trevor  •  CSC1204_2026  •  April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Hotel Room Management System</dc:title>
  <dc:subject>PptxGenJS Presentation</dc:subject>
  <dc:creator>Bulwadda Titus Trevor</dc:creator>
  <cp:lastModifiedBy>Bulwadda Titus Trevor</cp:lastModifiedBy>
  <cp:revision>1</cp:revision>
  <dcterms:created xsi:type="dcterms:W3CDTF">2026-05-05T09:05:00Z</dcterms:created>
  <dcterms:modified xsi:type="dcterms:W3CDTF">2026-05-05T09:05:00Z</dcterms:modified>
</cp:coreProperties>
</file>